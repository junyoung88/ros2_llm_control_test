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5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31720"/>
            <a:ext cx="12191695" cy="32004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PETSE — TII 재투고 리뷰 대응 요약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9FC0F0"/>
                </a:solidFill>
                <a:latin typeface="Calibri"/>
              </a:rPr>
              <a:t>From "just a wider margin" to continuous runtime re-verification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572000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FFFFFF"/>
                </a:solidFill>
                <a:latin typeface="Calibri"/>
              </a:rPr>
              <a:t>핵심 기여 재정의: 마진 확장(X) → 승인된 작업의 실행 중 연속 재검증(O)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FFFFFF"/>
                </a:solidFill>
                <a:latin typeface="Calibri"/>
              </a:rPr>
              <a:t>신규 인과 실험 3종 + 리뷰어별 대응 매트릭스 + 논문 수치 전면 갱신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9FC0F0"/>
                </a:solidFill>
                <a:latin typeface="Calibri"/>
              </a:rPr>
              <a:t>TII-26-3091 (Reject, 2026-07)  →  RA-L / RAS 재투고 준비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2471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9FC0F0"/>
                </a:solidFill>
                <a:latin typeface="Calibri"/>
              </a:rPr>
              <a:t>진단 (Root cause)</a:t>
            </a:r>
          </a:p>
          <a:p>
            <a:pPr algn="l">
              <a:spcAft>
                <a:spcPts val="600"/>
              </a:spcAft>
            </a:pPr>
            <a:r>
              <a:rPr sz="2500" b="1">
                <a:solidFill>
                  <a:srgbClr val="FFFFFF"/>
                </a:solidFill>
                <a:latin typeface="Calibri"/>
              </a:rPr>
              <a:t>왜 부정적이었나 — 아이디어가 아니라 "안 보임"이 문제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371600"/>
          <a:ext cx="11201398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4938"/>
                <a:gridCol w="4308230"/>
                <a:gridCol w="4308230"/>
              </a:tblGrid>
              <a:tr h="662940">
                <a:tc>
                  <a:txBody>
                    <a:bodyPr wrap="square"/>
                    <a:lstStyle/>
                    <a:p>
                      <a:pPr algn="l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리뷰어가 본 것</a:t>
                      </a:r>
                    </a:p>
                  </a:txBody>
                  <a:tcPr marL="64008" marR="45720" marT="18288" marB="18288" anchor="ctr">
                    <a:solidFill>
                      <a:srgbClr val="102A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왜 그렇게 읽혔나</a:t>
                      </a:r>
                    </a:p>
                  </a:txBody>
                  <a:tcPr marL="64008" marR="45720" marT="18288" marB="18288" anchor="ctr">
                    <a:solidFill>
                      <a:srgbClr val="102A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진짜 문제</a:t>
                      </a:r>
                    </a:p>
                  </a:txBody>
                  <a:tcPr marL="64008" marR="45720" marT="18288" marB="18288" anchor="ctr">
                    <a:solidFill>
                      <a:srgbClr val="102A54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pPr algn="l"/>
                      <a:r>
                        <a:rPr sz="1500">
                          <a:solidFill>
                            <a:srgbClr val="22262B"/>
                          </a:solidFill>
                          <a:latin typeface="Calibri"/>
                        </a:rPr>
                        <a:t>"그냥 마진을 넓힌 것"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>
                          <a:solidFill>
                            <a:srgbClr val="22262B"/>
                          </a:solidFill>
                          <a:latin typeface="Calibri"/>
                        </a:rPr>
                        <a:t>기여를 "불확실성 마진"으로 포장 → CBF/SSM과 차별화 안됨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>
                          <a:solidFill>
                            <a:srgbClr val="22262B"/>
                          </a:solidFill>
                          <a:latin typeface="Calibri"/>
                        </a:rPr>
                        <a:t>핵심(런타임 재검증)이 마진과 별개라는 증거가 논문에 없음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pPr algn="l"/>
                      <a:r>
                        <a:rPr sz="1500">
                          <a:solidFill>
                            <a:srgbClr val="22262B"/>
                          </a:solidFill>
                          <a:latin typeface="Calibri"/>
                        </a:rPr>
                        <a:t>LLM 버즈워드</a:t>
                      </a:r>
                    </a:p>
                  </a:txBody>
                  <a:tcPr marL="64008" marR="45720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>
                          <a:solidFill>
                            <a:srgbClr val="22262B"/>
                          </a:solidFill>
                          <a:latin typeface="Calibri"/>
                        </a:rPr>
                        <a:t>"LLM-enabled" 전면인데 정작 방법엔 LLM 없음 → 과대주장으로 읽힘</a:t>
                      </a:r>
                    </a:p>
                  </a:txBody>
                  <a:tcPr marL="64008" marR="45720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>
                          <a:solidFill>
                            <a:srgbClr val="22262B"/>
                          </a:solidFill>
                          <a:latin typeface="Calibri"/>
                        </a:rPr>
                        <a:t>신뢰도 전반 하락 → 다른 기여도 깎아서 봄</a:t>
                      </a:r>
                    </a:p>
                  </a:txBody>
                  <a:tcPr marL="64008" marR="45720" marT="18288" marB="18288" anchor="ctr">
                    <a:solidFill>
                      <a:srgbClr val="EEF2F8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pPr algn="l"/>
                      <a:r>
                        <a:rPr sz="1500">
                          <a:solidFill>
                            <a:srgbClr val="22262B"/>
                          </a:solidFill>
                          <a:latin typeface="Calibri"/>
                        </a:rPr>
                        <a:t>완성도 부족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>
                          <a:solidFill>
                            <a:srgbClr val="22262B"/>
                          </a:solidFill>
                          <a:latin typeface="Calibri"/>
                        </a:rPr>
                        <a:t>통계 부재, 재현성(GitHub), 좋은 베이스라인, 하드웨어 누락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>
                          <a:solidFill>
                            <a:srgbClr val="22262B"/>
                          </a:solidFill>
                          <a:latin typeface="Calibri"/>
                        </a:rPr>
                        <a:t>완성도가 낮으면 참신성 주장에도 관대함을 줄임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343400"/>
            <a:ext cx="11201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E7D32"/>
                </a:solidFill>
                <a:latin typeface="Calibri"/>
              </a:rPr>
              <a:t>→ "아이디어가 틀렸다"가 아니라 "핵심 기여가 안 보인다"는 거절 — 받을 수 있는 거절 중 가장 좋은 종류.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2262B"/>
                </a:solidFill>
                <a:latin typeface="Calibri"/>
              </a:rPr>
              <a:t>대응 전략: 핵심 기여를 리뷰어가 반박할 수 없는 형태(인과 실험)로 증명하고, 문서 전면에 재배치.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37376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45A66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2471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9FC0F0"/>
                </a:solidFill>
                <a:latin typeface="Calibri"/>
              </a:rPr>
              <a:t>전략</a:t>
            </a:r>
          </a:p>
          <a:p>
            <a:pPr algn="l">
              <a:spcAft>
                <a:spcPts val="600"/>
              </a:spcAft>
            </a:pPr>
            <a:r>
              <a:rPr sz="2500" b="1">
                <a:solidFill>
                  <a:srgbClr val="FFFFFF"/>
                </a:solidFill>
                <a:latin typeface="Calibri"/>
              </a:rPr>
              <a:t>재포지셔닝 — 마진이 아니라 런타임 재검증이 핵심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201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02A54"/>
                </a:solidFill>
                <a:latin typeface="Calibri"/>
              </a:rPr>
              <a:t>TOCTOU (Time-Of-Check ≠ Time-Of-Use): LLM/planner가 승인한 작업도 실행 중 문제가 생길 수 있다.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2262B"/>
                </a:solidFill>
                <a:latin typeface="Calibri"/>
              </a:rPr>
              <a:t>승인은 취소 가능(revocable)이어야 한다 — PETSE는 매 사이클 승인된 작업을 재검증하고, 실제 상태가 제약을 위반하면 철회한다.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2834640"/>
          <a:ext cx="11201399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4699"/>
                <a:gridCol w="4000500"/>
                <a:gridCol w="5156200"/>
              </a:tblGrid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64008" marR="45720" marT="18288" marB="18288" anchor="ctr">
                    <a:solidFill>
                      <a:srgbClr val="102A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종전 (TII 투고본)</a:t>
                      </a:r>
                    </a:p>
                  </a:txBody>
                  <a:tcPr marL="64008" marR="45720" marT="18288" marB="18288" anchor="ctr">
                    <a:solidFill>
                      <a:srgbClr val="102A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재투고본 (재포지셔닝)</a:t>
                      </a:r>
                    </a:p>
                  </a:txBody>
                  <a:tcPr marL="64008" marR="45720" marT="18288" marB="18288" anchor="ctr">
                    <a:solidFill>
                      <a:srgbClr val="102A54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22262B"/>
                          </a:solidFill>
                          <a:latin typeface="Calibri"/>
                        </a:rPr>
                        <a:t>제목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22262B"/>
                          </a:solidFill>
                          <a:latin typeface="Calibri"/>
                        </a:rPr>
                        <a:t>PETSE for LLM-enabled Mobile Robots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22262B"/>
                          </a:solidFill>
                          <a:latin typeface="Calibri"/>
                        </a:rPr>
                        <a:t>... with Continuous Runtime Re-Verification (LLM 제거)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22262B"/>
                          </a:solidFill>
                          <a:latin typeface="Calibri"/>
                        </a:rPr>
                        <a:t>기여 #1</a:t>
                      </a:r>
                    </a:p>
                  </a:txBody>
                  <a:tcPr marL="64008" marR="45720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22262B"/>
                          </a:solidFill>
                          <a:latin typeface="Calibri"/>
                        </a:rPr>
                        <a:t>Uncertainty-aware dynamic margin</a:t>
                      </a:r>
                    </a:p>
                  </a:txBody>
                  <a:tcPr marL="64008" marR="45720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22262B"/>
                          </a:solidFill>
                          <a:latin typeface="Calibri"/>
                        </a:rPr>
                        <a:t>Revocable approval via continuous runtime re-verification</a:t>
                      </a:r>
                    </a:p>
                  </a:txBody>
                  <a:tcPr marL="64008" marR="45720" marT="18288" marB="18288" anchor="ctr">
                    <a:solidFill>
                      <a:srgbClr val="EEF2F8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22262B"/>
                          </a:solidFill>
                          <a:latin typeface="Calibri"/>
                        </a:rPr>
                        <a:t>마진의 위치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22262B"/>
                          </a:solidFill>
                          <a:latin typeface="Calibri"/>
                        </a:rPr>
                        <a:t>핵심 주장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22262B"/>
                          </a:solidFill>
                          <a:latin typeface="Calibri"/>
                        </a:rPr>
                        <a:t>재검증 임계값을 정하는 지원 역할(#2로 강등)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22262B"/>
                          </a:solidFill>
                          <a:latin typeface="Calibri"/>
                        </a:rPr>
                        <a:t>핵심 증거</a:t>
                      </a:r>
                    </a:p>
                  </a:txBody>
                  <a:tcPr marL="64008" marR="45720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22262B"/>
                          </a:solidFill>
                          <a:latin typeface="Calibri"/>
                        </a:rPr>
                        <a:t>없음</a:t>
                      </a:r>
                    </a:p>
                  </a:txBody>
                  <a:tcPr marL="64008" marR="45720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22262B"/>
                          </a:solidFill>
                          <a:latin typeface="Calibri"/>
                        </a:rPr>
                        <a:t>마진 고정 2×2 — 연속 재검증이 공격면을 닫음 (100%→0%)</a:t>
                      </a:r>
                    </a:p>
                  </a:txBody>
                  <a:tcPr marL="64008" marR="45720" marT="18288" marB="18288" anchor="ctr">
                    <a:solidFill>
                      <a:srgbClr val="EEF2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881360" y="6437376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45A66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2471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9FC0F0"/>
                </a:solidFill>
                <a:latin typeface="Calibri"/>
              </a:rPr>
              <a:t>신규 실험 ① — 인과 격리 (R1.1/R1.2/AE)</a:t>
            </a:r>
          </a:p>
          <a:p>
            <a:pPr algn="l">
              <a:spcAft>
                <a:spcPts val="600"/>
              </a:spcAft>
            </a:pPr>
            <a:r>
              <a:rPr sz="2500" b="1">
                <a:solidFill>
                  <a:srgbClr val="FFFFFF"/>
                </a:solidFill>
                <a:latin typeface="Calibri"/>
              </a:rPr>
              <a:t>TOCTOU 2×2 — 마진을 고정하고 모니터만 on/off</a:t>
            </a:r>
          </a:p>
        </p:txBody>
      </p:sp>
      <p:pic>
        <p:nvPicPr>
          <p:cNvPr id="4" name="Picture 3" descr="toctou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7680960" cy="29443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49640" y="1371600"/>
            <a:ext cx="33375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A73E8"/>
                </a:solidFill>
                <a:latin typeface="Calibri"/>
              </a:rPr>
              <a:t>무엇을 보이나</a:t>
            </a:r>
          </a:p>
          <a:p>
            <a:pPr algn="l">
              <a:spcAft>
                <a:spcPts val="900"/>
              </a:spcAft>
            </a:pPr>
            <a:r>
              <a:rPr sz="1300" b="0">
                <a:solidFill>
                  <a:srgbClr val="22262B"/>
                </a:solidFill>
                <a:latin typeface="Calibri"/>
              </a:rPr>
              <a:t>•  마진 0.562m 고정, 모니터 OFF: 공격 10/10 진입</a:t>
            </a:r>
          </a:p>
          <a:p>
            <a:pPr algn="l">
              <a:spcAft>
                <a:spcPts val="900"/>
              </a:spcAft>
            </a:pPr>
            <a:r>
              <a:rPr sz="1300" b="0">
                <a:solidFill>
                  <a:srgbClr val="22262B"/>
                </a:solidFill>
                <a:latin typeface="Calibri"/>
              </a:rPr>
              <a:t>•  모니터 ON: 0/10 — 100%→0% (McNemar p=1.95e-3)</a:t>
            </a:r>
          </a:p>
          <a:p>
            <a:pPr algn="l">
              <a:spcAft>
                <a:spcPts val="900"/>
              </a:spcAft>
            </a:pPr>
            <a:r>
              <a:rPr sz="1300" b="0">
                <a:solidFill>
                  <a:srgbClr val="22262B"/>
                </a:solidFill>
                <a:latin typeface="Calibri"/>
              </a:rPr>
              <a:t>•  유일한 차이=런타임 모니터 → "그냥 마진" 반박</a:t>
            </a:r>
          </a:p>
          <a:p>
            <a:pPr algn="l">
              <a:spcAft>
                <a:spcPts val="900"/>
              </a:spcAft>
            </a:pPr>
            <a:r>
              <a:rPr sz="1300" b="0">
                <a:solidFill>
                  <a:srgbClr val="22262B"/>
                </a:solidFill>
                <a:latin typeface="Calibri"/>
              </a:rPr>
              <a:t>•  경계 스윕이 해석 경계(1.389m)와 일치 → cherry-pick 아님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852160"/>
            <a:ext cx="7680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45A66"/>
                </a:solidFill>
                <a:latin typeface="Calibri"/>
              </a:rPr>
              <a:t>(a) 2×2 팩토리얼 · (b) 경계 스윕.   논문 fig:toctou / §Runtime Re-Verification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37376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45A66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2471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9FC0F0"/>
                </a:solidFill>
                <a:latin typeface="Calibri"/>
              </a:rPr>
              <a:t>신규 실험 ② — 일반화 (R3.6)</a:t>
            </a:r>
          </a:p>
          <a:p>
            <a:pPr algn="l">
              <a:spcAft>
                <a:spcPts val="600"/>
              </a:spcAft>
            </a:pPr>
            <a:r>
              <a:rPr sz="2500" b="1">
                <a:solidFill>
                  <a:srgbClr val="FFFFFF"/>
                </a:solidFill>
                <a:latin typeface="Calibri"/>
              </a:rPr>
              <a:t>컨트롤러 일반화 — DWB vs RPP</a:t>
            </a:r>
          </a:p>
        </p:txBody>
      </p:sp>
      <p:pic>
        <p:nvPicPr>
          <p:cNvPr id="4" name="Picture 3" descr="controller_general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7680960" cy="29443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49640" y="1371600"/>
            <a:ext cx="33375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A73E8"/>
                </a:solidFill>
                <a:latin typeface="Calibri"/>
              </a:rPr>
              <a:t>무엇을 보이나</a:t>
            </a:r>
          </a:p>
          <a:p>
            <a:pPr algn="l">
              <a:spcAft>
                <a:spcPts val="900"/>
              </a:spcAft>
            </a:pPr>
            <a:r>
              <a:rPr sz="1300" b="0">
                <a:solidFill>
                  <a:srgbClr val="22262B"/>
                </a:solidFill>
                <a:latin typeface="Calibri"/>
              </a:rPr>
              <a:t>•  런타임 모니터는 /cmd_vel에 붙어 컨트롤러-무관</a:t>
            </a:r>
          </a:p>
          <a:p>
            <a:pPr algn="l">
              <a:spcAft>
                <a:spcPts val="900"/>
              </a:spcAft>
            </a:pPr>
            <a:r>
              <a:rPr sz="1300" b="0">
                <a:solidFill>
                  <a:srgbClr val="22262B"/>
                </a:solidFill>
                <a:latin typeface="Calibri"/>
              </a:rPr>
              <a:t>•  구조가 다른 두 Nav2 컨트롤러로 동일 100%→0%</a:t>
            </a:r>
          </a:p>
          <a:p>
            <a:pPr algn="l">
              <a:spcAft>
                <a:spcPts val="900"/>
              </a:spcAft>
            </a:pPr>
            <a:r>
              <a:rPr sz="1300" b="0">
                <a:solidFill>
                  <a:srgbClr val="22262B"/>
                </a:solidFill>
                <a:latin typeface="Calibri"/>
              </a:rPr>
              <a:t>•  DWB(샘플러) · RPP(pure-pursuit), 속도 0.22m/s 매칭</a:t>
            </a:r>
          </a:p>
          <a:p>
            <a:pPr algn="l">
              <a:spcAft>
                <a:spcPts val="900"/>
              </a:spcAft>
            </a:pPr>
            <a:r>
              <a:rPr sz="1300" b="0">
                <a:solidFill>
                  <a:srgbClr val="22262B"/>
                </a:solidFill>
                <a:latin typeface="Calibri"/>
              </a:rPr>
              <a:t>•  → 특정 플래너 아티팩트가 아닌 실행계층 성질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852160"/>
            <a:ext cx="7680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45A66"/>
                </a:solidFill>
                <a:latin typeface="Calibri"/>
              </a:rPr>
              <a:t>DWB·RPP 모두 (OFF,above)=100%, 나머지 0%.   논문 fig:ctrlgen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37376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45A66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2471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9FC0F0"/>
                </a:solidFill>
                <a:latin typeface="Calibri"/>
              </a:rPr>
              <a:t>신규 실험 ③ — 운영점 (연속 검사 비용)</a:t>
            </a:r>
          </a:p>
          <a:p>
            <a:pPr algn="l">
              <a:spcAft>
                <a:spcPts val="600"/>
              </a:spcAft>
            </a:pPr>
            <a:r>
              <a:rPr sz="2500" b="1">
                <a:solidFill>
                  <a:srgbClr val="FFFFFF"/>
                </a:solidFill>
                <a:latin typeface="Calibri"/>
              </a:rPr>
              <a:t>런타임 모니터 운영점 — 오발동 0, 적시 정지</a:t>
            </a:r>
          </a:p>
        </p:txBody>
      </p:sp>
      <p:pic>
        <p:nvPicPr>
          <p:cNvPr id="4" name="Picture 3" descr="monitor_operating_poi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7680960" cy="29443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49640" y="1371600"/>
            <a:ext cx="33375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A73E8"/>
                </a:solidFill>
                <a:latin typeface="Calibri"/>
              </a:rPr>
              <a:t>무엇을 보이나</a:t>
            </a:r>
          </a:p>
          <a:p>
            <a:pPr algn="l">
              <a:spcAft>
                <a:spcPts val="900"/>
              </a:spcAft>
            </a:pPr>
            <a:r>
              <a:rPr sz="1300" b="0">
                <a:solidFill>
                  <a:srgbClr val="22262B"/>
                </a:solidFill>
                <a:latin typeface="Calibri"/>
              </a:rPr>
              <a:t>•  양성 궤적 243개 → 오발동(nuisance) 0 (≤1.23%)</a:t>
            </a:r>
          </a:p>
          <a:p>
            <a:pPr algn="l">
              <a:spcAft>
                <a:spcPts val="900"/>
              </a:spcAft>
            </a:pPr>
            <a:r>
              <a:rPr sz="1300" b="0">
                <a:solidFill>
                  <a:srgbClr val="22262B"/>
                </a:solidFill>
                <a:latin typeface="Calibri"/>
              </a:rPr>
              <a:t>•  55개 개입 전부 양의 여유로 정지, 위반 0/55</a:t>
            </a:r>
          </a:p>
          <a:p>
            <a:pPr algn="l">
              <a:spcAft>
                <a:spcPts val="900"/>
              </a:spcAft>
            </a:pPr>
            <a:r>
              <a:rPr sz="1300" b="0">
                <a:solidFill>
                  <a:srgbClr val="22262B"/>
                </a:solidFill>
                <a:latin typeface="Calibri"/>
              </a:rPr>
              <a:t>•  S4(속도) median 3.1m · S5(TOCTOU) median 0.45m</a:t>
            </a:r>
          </a:p>
          <a:p>
            <a:pPr algn="l">
              <a:spcAft>
                <a:spcPts val="900"/>
              </a:spcAft>
            </a:pPr>
            <a:r>
              <a:rPr sz="1300" b="0">
                <a:solidFill>
                  <a:srgbClr val="22262B"/>
                </a:solidFill>
                <a:latin typeface="Calibri"/>
              </a:rPr>
              <a:t>•  반응지연 median 50ms, per-cycle 147µs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852160"/>
            <a:ext cx="7680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45A66"/>
                </a:solidFill>
                <a:latin typeface="Calibri"/>
              </a:rPr>
              <a:t>(a) nuisance 0 · (b) 개입 시 여유거리 분포.   논문 fig:oppoint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37376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45A66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2471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9FC0F0"/>
                </a:solidFill>
                <a:latin typeface="Calibri"/>
              </a:rPr>
              <a:t>리뷰어별 대응 매트릭스</a:t>
            </a:r>
          </a:p>
          <a:p>
            <a:pPr algn="l">
              <a:spcAft>
                <a:spcPts val="600"/>
              </a:spcAft>
            </a:pPr>
            <a:r>
              <a:rPr sz="2500" b="1">
                <a:solidFill>
                  <a:srgbClr val="FFFFFF"/>
                </a:solidFill>
                <a:latin typeface="Calibri"/>
              </a:rPr>
              <a:t>리뷰어 1 대응 (독창성·엄밀성)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280160"/>
          <a:ext cx="11475718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8851"/>
                <a:gridCol w="5971106"/>
                <a:gridCol w="2425761"/>
              </a:tblGrid>
              <a:tr h="617220">
                <a:tc>
                  <a:txBody>
                    <a:bodyPr wrap="square"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지적</a:t>
                      </a:r>
                    </a:p>
                  </a:txBody>
                  <a:tcPr marL="64008" marR="45720" marT="18288" marB="18288" anchor="ctr">
                    <a:solidFill>
                      <a:srgbClr val="102A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대응</a:t>
                      </a:r>
                    </a:p>
                  </a:txBody>
                  <a:tcPr marL="64008" marR="45720" marT="18288" marB="18288" anchor="ctr">
                    <a:solidFill>
                      <a:srgbClr val="102A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증거</a:t>
                      </a:r>
                    </a:p>
                  </a:txBody>
                  <a:tcPr marL="64008" marR="45720" marT="18288" marB="18288" anchor="ctr">
                    <a:solidFill>
                      <a:srgbClr val="102A54"/>
                    </a:solidFill>
                  </a:tcPr>
                </a:tc>
              </a:tr>
              <a:tr h="61722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2262B"/>
                          </a:solidFill>
                          <a:latin typeface="Calibri"/>
                        </a:rPr>
                        <a:t>R1.1/1.2 "그냥 마진"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2262B"/>
                          </a:solidFill>
                          <a:latin typeface="Calibri"/>
                        </a:rPr>
                        <a:t>마진 고정 2×2 → 모니터만으로 100%→0% + 재포지셔닝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2262B"/>
                          </a:solidFill>
                          <a:latin typeface="Calibri"/>
                        </a:rPr>
                        <a:t>fig:toctou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2262B"/>
                          </a:solidFill>
                          <a:latin typeface="Calibri"/>
                        </a:rPr>
                        <a:t>R1.3/1.4 "보장 범위?"</a:t>
                      </a:r>
                    </a:p>
                  </a:txBody>
                  <a:tcPr marL="64008" marR="45720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2262B"/>
                          </a:solidFill>
                          <a:latin typeface="Calibri"/>
                        </a:rPr>
                        <a:t>COE(Certified Operating Envelope) 정의 + 3단계 주장</a:t>
                      </a:r>
                    </a:p>
                  </a:txBody>
                  <a:tcPr marL="64008" marR="45720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2262B"/>
                          </a:solidFill>
                          <a:latin typeface="Calibri"/>
                        </a:rPr>
                        <a:t>§Method (예정)</a:t>
                      </a:r>
                    </a:p>
                  </a:txBody>
                  <a:tcPr marL="64008" marR="45720" marT="18288" marB="18288" anchor="ctr">
                    <a:solidFill>
                      <a:srgbClr val="EEF2F8"/>
                    </a:solidFill>
                  </a:tcPr>
                </a:tc>
              </a:tr>
              <a:tr h="61722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2262B"/>
                          </a:solidFill>
                          <a:latin typeface="Calibri"/>
                        </a:rPr>
                        <a:t>R1.5 "가정 붕괴"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2262B"/>
                          </a:solidFill>
                          <a:latin typeface="Calibri"/>
                        </a:rPr>
                        <a:t>TCB 신뢰표 + "둘 다 침해되면 보장X" 명시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2262B"/>
                          </a:solidFill>
                          <a:latin typeface="Calibri"/>
                        </a:rPr>
                        <a:t>§Threat Model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2262B"/>
                          </a:solidFill>
                          <a:latin typeface="Calibri"/>
                        </a:rPr>
                        <a:t>R1.6 "CBF 튜닝 불공정"</a:t>
                      </a:r>
                    </a:p>
                  </a:txBody>
                  <a:tcPr marL="64008" marR="45720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2262B"/>
                          </a:solidFill>
                          <a:latin typeface="Calibri"/>
                        </a:rPr>
                        <a:t>(γ,δ) 30설정 스윕 → 최적도 33% 위반(구조적)</a:t>
                      </a:r>
                    </a:p>
                  </a:txBody>
                  <a:tcPr marL="64008" marR="45720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2262B"/>
                          </a:solidFill>
                          <a:latin typeface="Calibri"/>
                        </a:rPr>
                        <a:t>cbf_sensitivity.png</a:t>
                      </a:r>
                    </a:p>
                  </a:txBody>
                  <a:tcPr marL="64008" marR="45720" marT="18288" marB="18288" anchor="ctr">
                    <a:solidFill>
                      <a:srgbClr val="EEF2F8"/>
                    </a:solidFill>
                  </a:tcPr>
                </a:tc>
              </a:tr>
              <a:tr h="61722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2262B"/>
                          </a:solidFill>
                          <a:latin typeface="Calibri"/>
                        </a:rPr>
                        <a:t>R1 "additive 과보수"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2262B"/>
                          </a:solidFill>
                          <a:latin typeface="Calibri"/>
                        </a:rPr>
                        <a:t>additive≈p99.9; 적대적에서 RSS 100% 실패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2262B"/>
                          </a:solidFill>
                          <a:latin typeface="Calibri"/>
                        </a:rPr>
                        <a:t>margin_comparison.png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2262B"/>
                          </a:solidFill>
                          <a:latin typeface="Calibri"/>
                        </a:rPr>
                        <a:t>R1 "fixed offset·covariance"</a:t>
                      </a:r>
                    </a:p>
                  </a:txBody>
                  <a:tcPr marL="64008" marR="45720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2262B"/>
                          </a:solidFill>
                          <a:latin typeface="Calibri"/>
                        </a:rPr>
                        <a:t>지속 스푸핑 예산 Δ_spoof=0.462m 스윕</a:t>
                      </a:r>
                    </a:p>
                  </a:txBody>
                  <a:tcPr marL="64008" marR="45720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2262B"/>
                          </a:solidFill>
                          <a:latin typeface="Calibri"/>
                        </a:rPr>
                        <a:t>spoof_budget_sweep.png</a:t>
                      </a:r>
                    </a:p>
                  </a:txBody>
                  <a:tcPr marL="64008" marR="45720" marT="18288" marB="18288" anchor="ctr">
                    <a:solidFill>
                      <a:srgbClr val="EEF2F8"/>
                    </a:solidFill>
                  </a:tcPr>
                </a:tc>
              </a:tr>
              <a:tr h="61722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2262B"/>
                          </a:solidFill>
                          <a:latin typeface="Calibri"/>
                        </a:rPr>
                        <a:t>R1.8 "S1 하드웨어 누락"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2262B"/>
                          </a:solidFill>
                          <a:latin typeface="Calibri"/>
                        </a:rPr>
                        <a:t>실기체 실험 예정 + 프롬프트 시도·모델 보고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2262B"/>
                          </a:solidFill>
                          <a:latin typeface="Calibri"/>
                        </a:rPr>
                        <a:t>(진행 예정)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881360" y="6437376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45A66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2471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9FC0F0"/>
                </a:solidFill>
                <a:latin typeface="Calibri"/>
              </a:rPr>
              <a:t>리뷰어별 대응 매트릭스</a:t>
            </a:r>
          </a:p>
          <a:p>
            <a:pPr algn="l">
              <a:spcAft>
                <a:spcPts val="600"/>
              </a:spcAft>
            </a:pPr>
            <a:r>
              <a:rPr sz="2500" b="1">
                <a:solidFill>
                  <a:srgbClr val="FFFFFF"/>
                </a:solidFill>
                <a:latin typeface="Calibri"/>
              </a:rPr>
              <a:t>리뷰어 2 대응 (재현성·표기)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371600"/>
          <a:ext cx="112014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80385"/>
                <a:gridCol w="5694045"/>
                <a:gridCol w="242697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지적</a:t>
                      </a:r>
                    </a:p>
                  </a:txBody>
                  <a:tcPr marL="64008" marR="45720" marT="18288" marB="18288" anchor="ctr">
                    <a:solidFill>
                      <a:srgbClr val="102A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대응</a:t>
                      </a:r>
                    </a:p>
                  </a:txBody>
                  <a:tcPr marL="64008" marR="45720" marT="18288" marB="18288" anchor="ctr">
                    <a:solidFill>
                      <a:srgbClr val="102A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증거</a:t>
                      </a:r>
                    </a:p>
                  </a:txBody>
                  <a:tcPr marL="64008" marR="45720" marT="18288" marB="18288" anchor="ctr">
                    <a:solidFill>
                      <a:srgbClr val="102A54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500">
                          <a:solidFill>
                            <a:srgbClr val="22262B"/>
                          </a:solidFill>
                          <a:latin typeface="Calibri"/>
                        </a:rPr>
                        <a:t>R2 재현성 (코드 공개 없음)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>
                          <a:solidFill>
                            <a:srgbClr val="22262B"/>
                          </a:solidFill>
                          <a:latin typeface="Calibri"/>
                        </a:rPr>
                        <a:t>GitHub 공개 저장소 + Setup에 링크(각주)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>
                          <a:solidFill>
                            <a:srgbClr val="22262B"/>
                          </a:solidFill>
                          <a:latin typeface="Calibri"/>
                        </a:rPr>
                        <a:t>§Setup 각주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500">
                          <a:solidFill>
                            <a:srgbClr val="22262B"/>
                          </a:solidFill>
                          <a:latin typeface="Calibri"/>
                        </a:rPr>
                        <a:t>R2 표기 (ROS / AMCL)</a:t>
                      </a:r>
                    </a:p>
                  </a:txBody>
                  <a:tcPr marL="64008" marR="45720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>
                          <a:solidFill>
                            <a:srgbClr val="22262B"/>
                          </a:solidFill>
                          <a:latin typeface="Calibri"/>
                        </a:rPr>
                        <a:t>ROS→ROS 2 전역 통일, 그림 내 철자 수정</a:t>
                      </a:r>
                    </a:p>
                  </a:txBody>
                  <a:tcPr marL="64008" marR="45720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>
                          <a:solidFill>
                            <a:srgbClr val="22262B"/>
                          </a:solidFill>
                          <a:latin typeface="Calibri"/>
                        </a:rPr>
                        <a:t>문서 전역</a:t>
                      </a:r>
                    </a:p>
                  </a:txBody>
                  <a:tcPr marL="64008" marR="45720" marT="18288" marB="18288" anchor="ctr">
                    <a:solidFill>
                      <a:srgbClr val="EEF2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3383280"/>
            <a:ext cx="11201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02A54"/>
                </a:solidFill>
                <a:latin typeface="Calibri"/>
              </a:rPr>
              <a:t>성격: 논문 내용이 아니라 완성도·재현성 지적 — 방어보다 "정리"의 문제.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2262B"/>
                </a:solidFill>
                <a:latin typeface="Calibri"/>
              </a:rPr>
              <a:t>•  코드·실험 하네스·결과 데이터를 저장소로 공개하고 Setup에 링크 → 재현성 확보.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2262B"/>
                </a:solidFill>
                <a:latin typeface="Calibri"/>
              </a:rPr>
              <a:t>•  ROS 2 lifecycle node임을 본문 전역에서 명시(종전 "ROS"/"drop-in ROS node" 혼용 제거).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2262B"/>
                </a:solidFill>
                <a:latin typeface="Calibri"/>
              </a:rPr>
              <a:t>•  이런 완성도 지적을 남기면 참신성 주장에도 관대함이 줄어들므로 우선 정리.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37376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45A66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2471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9FC0F0"/>
                </a:solidFill>
                <a:latin typeface="Calibri"/>
              </a:rPr>
              <a:t>리뷰어별 대응 매트릭스</a:t>
            </a:r>
          </a:p>
          <a:p>
            <a:pPr algn="l">
              <a:spcAft>
                <a:spcPts val="600"/>
              </a:spcAft>
            </a:pPr>
            <a:r>
              <a:rPr sz="2500" b="1">
                <a:solidFill>
                  <a:srgbClr val="FFFFFF"/>
                </a:solidFill>
                <a:latin typeface="Calibri"/>
              </a:rPr>
              <a:t>리뷰어 3 대응 (일반화·실용성)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371600"/>
          <a:ext cx="11384279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54319"/>
                <a:gridCol w="5830972"/>
                <a:gridCol w="2498988"/>
              </a:tblGrid>
              <a:tr h="627017">
                <a:tc>
                  <a:txBody>
                    <a:bodyPr wrap="square"/>
                    <a:lstStyle/>
                    <a:p>
                      <a:pPr algn="l"/>
                      <a:r>
                        <a:rPr b="1" sz="1350">
                          <a:solidFill>
                            <a:srgbClr val="FFFFFF"/>
                          </a:solidFill>
                          <a:latin typeface="Calibri"/>
                        </a:rPr>
                        <a:t>지적</a:t>
                      </a:r>
                    </a:p>
                  </a:txBody>
                  <a:tcPr marL="64008" marR="45720" marT="18288" marB="18288" anchor="ctr">
                    <a:solidFill>
                      <a:srgbClr val="102A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sz="1350">
                          <a:solidFill>
                            <a:srgbClr val="FFFFFF"/>
                          </a:solidFill>
                          <a:latin typeface="Calibri"/>
                        </a:rPr>
                        <a:t>대응</a:t>
                      </a:r>
                    </a:p>
                  </a:txBody>
                  <a:tcPr marL="64008" marR="45720" marT="18288" marB="18288" anchor="ctr">
                    <a:solidFill>
                      <a:srgbClr val="102A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sz="1350">
                          <a:solidFill>
                            <a:srgbClr val="FFFFFF"/>
                          </a:solidFill>
                          <a:latin typeface="Calibri"/>
                        </a:rPr>
                        <a:t>증거</a:t>
                      </a:r>
                    </a:p>
                  </a:txBody>
                  <a:tcPr marL="64008" marR="45720" marT="18288" marB="18288" anchor="ctr">
                    <a:solidFill>
                      <a:srgbClr val="102A54"/>
                    </a:solidFill>
                  </a:tcPr>
                </a:tc>
              </a:tr>
              <a:tr h="627017">
                <a:tc>
                  <a:txBody>
                    <a:bodyPr wrap="square"/>
                    <a:lstStyle/>
                    <a:p>
                      <a:pPr algn="l"/>
                      <a:r>
                        <a:rPr sz="1350">
                          <a:solidFill>
                            <a:srgbClr val="22262B"/>
                          </a:solidFill>
                          <a:latin typeface="Calibri"/>
                        </a:rPr>
                        <a:t>R3.5 좁은 복도 오거절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>
                          <a:solidFill>
                            <a:srgbClr val="22262B"/>
                          </a:solidFill>
                          <a:latin typeface="Calibri"/>
                        </a:rPr>
                        <a:t>거절구간도 footprint 여유 양수, ε로 조절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>
                          <a:solidFill>
                            <a:srgbClr val="22262B"/>
                          </a:solidFill>
                          <a:latin typeface="Calibri"/>
                        </a:rPr>
                        <a:t>geometry_stress.png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 wrap="square"/>
                    <a:lstStyle/>
                    <a:p>
                      <a:pPr algn="l"/>
                      <a:r>
                        <a:rPr sz="1350">
                          <a:solidFill>
                            <a:srgbClr val="22262B"/>
                          </a:solidFill>
                          <a:latin typeface="Calibri"/>
                        </a:rPr>
                        <a:t>R3 인접구역 "마진 합산"</a:t>
                      </a:r>
                    </a:p>
                  </a:txBody>
                  <a:tcPr marL="64008" marR="45720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>
                          <a:solidFill>
                            <a:srgbClr val="22262B"/>
                          </a:solidFill>
                          <a:latin typeface="Calibri"/>
                        </a:rPr>
                        <a:t>합집합(union)이지 합산 아님 — 코드로 반박</a:t>
                      </a:r>
                    </a:p>
                  </a:txBody>
                  <a:tcPr marL="64008" marR="45720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>
                          <a:solidFill>
                            <a:srgbClr val="22262B"/>
                          </a:solidFill>
                          <a:latin typeface="Calibri"/>
                        </a:rPr>
                        <a:t>geometry_stress.png</a:t>
                      </a:r>
                    </a:p>
                  </a:txBody>
                  <a:tcPr marL="64008" marR="45720" marT="18288" marB="18288" anchor="ctr">
                    <a:solidFill>
                      <a:srgbClr val="EEF2F8"/>
                    </a:solidFill>
                  </a:tcPr>
                </a:tc>
              </a:tr>
              <a:tr h="627017">
                <a:tc>
                  <a:txBody>
                    <a:bodyPr wrap="square"/>
                    <a:lstStyle/>
                    <a:p>
                      <a:pPr algn="l"/>
                      <a:r>
                        <a:rPr sz="1350">
                          <a:solidFill>
                            <a:srgbClr val="22262B"/>
                          </a:solidFill>
                          <a:latin typeface="Calibri"/>
                        </a:rPr>
                        <a:t>R3 "ε 선택 지침 부재"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>
                          <a:solidFill>
                            <a:srgbClr val="22262B"/>
                          </a:solidFill>
                          <a:latin typeface="Calibri"/>
                        </a:rPr>
                        <a:t>ε Pareto + 선택규칙(비용비→ε*)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>
                          <a:solidFill>
                            <a:srgbClr val="22262B"/>
                          </a:solidFill>
                          <a:latin typeface="Calibri"/>
                        </a:rPr>
                        <a:t>epsilon_pareto.png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 wrap="square"/>
                    <a:lstStyle/>
                    <a:p>
                      <a:pPr algn="l"/>
                      <a:r>
                        <a:rPr sz="1350">
                          <a:solidFill>
                            <a:srgbClr val="22262B"/>
                          </a:solidFill>
                          <a:latin typeface="Calibri"/>
                        </a:rPr>
                        <a:t>R3.6 "플래너 교차검증"</a:t>
                      </a:r>
                    </a:p>
                  </a:txBody>
                  <a:tcPr marL="64008" marR="45720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>
                          <a:solidFill>
                            <a:srgbClr val="22262B"/>
                          </a:solidFill>
                          <a:latin typeface="Calibri"/>
                        </a:rPr>
                        <a:t>DWB+RPP 2×2 동일 — 이번 세션 신규</a:t>
                      </a:r>
                    </a:p>
                  </a:txBody>
                  <a:tcPr marL="64008" marR="45720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>
                          <a:solidFill>
                            <a:srgbClr val="22262B"/>
                          </a:solidFill>
                          <a:latin typeface="Calibri"/>
                        </a:rPr>
                        <a:t>controller_generalization.png</a:t>
                      </a:r>
                    </a:p>
                  </a:txBody>
                  <a:tcPr marL="64008" marR="45720" marT="18288" marB="18288" anchor="ctr">
                    <a:solidFill>
                      <a:srgbClr val="EEF2F8"/>
                    </a:solidFill>
                  </a:tcPr>
                </a:tc>
              </a:tr>
              <a:tr h="627017">
                <a:tc>
                  <a:txBody>
                    <a:bodyPr wrap="square"/>
                    <a:lstStyle/>
                    <a:p>
                      <a:pPr algn="l"/>
                      <a:r>
                        <a:rPr sz="1350">
                          <a:solidFill>
                            <a:srgbClr val="22262B"/>
                          </a:solidFill>
                          <a:latin typeface="Calibri"/>
                        </a:rPr>
                        <a:t>R3.7 "fail-stop 복구불가"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>
                          <a:solidFill>
                            <a:srgbClr val="22262B"/>
                          </a:solidFill>
                          <a:latin typeface="Calibri"/>
                        </a:rPr>
                        <a:t>degradation ladder, 위반 0 유지하며 가용성 복원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>
                          <a:solidFill>
                            <a:srgbClr val="22262B"/>
                          </a:solidFill>
                          <a:latin typeface="Calibri"/>
                        </a:rPr>
                        <a:t>recovery_policies.png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627018">
                <a:tc>
                  <a:txBody>
                    <a:bodyPr wrap="square"/>
                    <a:lstStyle/>
                    <a:p>
                      <a:pPr algn="l"/>
                      <a:r>
                        <a:rPr sz="1350">
                          <a:solidFill>
                            <a:srgbClr val="22262B"/>
                          </a:solidFill>
                          <a:latin typeface="Calibri"/>
                        </a:rPr>
                        <a:t>R3 실행계 문헌 누락</a:t>
                      </a:r>
                    </a:p>
                  </a:txBody>
                  <a:tcPr marL="64008" marR="45720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>
                          <a:solidFill>
                            <a:srgbClr val="22262B"/>
                          </a:solidFill>
                          <a:latin typeface="Calibri"/>
                        </a:rPr>
                        <a:t>RTA/Simplex/RoboGuard 서베이 추가</a:t>
                      </a:r>
                    </a:p>
                  </a:txBody>
                  <a:tcPr marL="64008" marR="45720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>
                          <a:solidFill>
                            <a:srgbClr val="22262B"/>
                          </a:solidFill>
                          <a:latin typeface="Calibri"/>
                        </a:rPr>
                        <a:t>§Related Work (예정)</a:t>
                      </a:r>
                    </a:p>
                  </a:txBody>
                  <a:tcPr marL="64008" marR="45720" marT="18288" marB="18288" anchor="ctr">
                    <a:solidFill>
                      <a:srgbClr val="EEF2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5943600"/>
            <a:ext cx="11201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E7D32"/>
                </a:solidFill>
                <a:latin typeface="Calibri"/>
              </a:rPr>
              <a:t>R3.6은 이번 세션에서 신규로 닫은 핵심 항목 — 실행계층 성질이 플래너와 무관함을 실증.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37376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45A66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2471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9FC0F0"/>
                </a:solidFill>
                <a:latin typeface="Calibri"/>
              </a:rPr>
              <a:t>리뷰어별 대응 매트릭스</a:t>
            </a:r>
          </a:p>
          <a:p>
            <a:pPr algn="l">
              <a:spcAft>
                <a:spcPts val="600"/>
              </a:spcAft>
            </a:pPr>
            <a:r>
              <a:rPr sz="2500" b="1">
                <a:solidFill>
                  <a:srgbClr val="FFFFFF"/>
                </a:solidFill>
                <a:latin typeface="Calibri"/>
              </a:rPr>
              <a:t>AE · 통계 대응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280160"/>
          <a:ext cx="11475719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85553"/>
                <a:gridCol w="5597912"/>
                <a:gridCol w="2892254"/>
              </a:tblGrid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지적</a:t>
                      </a:r>
                    </a:p>
                  </a:txBody>
                  <a:tcPr marL="64008" marR="45720" marT="18288" marB="18288" anchor="ctr">
                    <a:solidFill>
                      <a:srgbClr val="102A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대응</a:t>
                      </a:r>
                    </a:p>
                  </a:txBody>
                  <a:tcPr marL="64008" marR="45720" marT="18288" marB="18288" anchor="ctr">
                    <a:solidFill>
                      <a:srgbClr val="102A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증거</a:t>
                      </a:r>
                    </a:p>
                  </a:txBody>
                  <a:tcPr marL="64008" marR="45720" marT="18288" marB="18288" anchor="ctr">
                    <a:solidFill>
                      <a:srgbClr val="102A54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2262B"/>
                          </a:solidFill>
                          <a:latin typeface="Calibri"/>
                        </a:rPr>
                        <a:t>AE 독창성 (R1.1 연장)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2262B"/>
                          </a:solidFill>
                          <a:latin typeface="Calibri"/>
                        </a:rPr>
                        <a:t>런타임 재검증 재포지셔닝 + 인과 증명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2262B"/>
                          </a:solidFill>
                          <a:latin typeface="Calibri"/>
                        </a:rPr>
                        <a:t>fig:toctou, §reverify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2262B"/>
                          </a:solidFill>
                          <a:latin typeface="Calibri"/>
                        </a:rPr>
                        <a:t>AE 마진 설계 정당화</a:t>
                      </a:r>
                    </a:p>
                  </a:txBody>
                  <a:tcPr marL="64008" marR="45720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2262B"/>
                          </a:solidFill>
                          <a:latin typeface="Calibri"/>
                        </a:rPr>
                        <a:t>additive vs RSS + ε Pareto</a:t>
                      </a:r>
                    </a:p>
                  </a:txBody>
                  <a:tcPr marL="64008" marR="45720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2262B"/>
                          </a:solidFill>
                          <a:latin typeface="Calibri"/>
                        </a:rPr>
                        <a:t>margin_comparison / epsilon_pareto</a:t>
                      </a:r>
                    </a:p>
                  </a:txBody>
                  <a:tcPr marL="64008" marR="45720" marT="18288" marB="18288" anchor="ctr">
                    <a:solidFill>
                      <a:srgbClr val="EEF2F8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2262B"/>
                          </a:solidFill>
                          <a:latin typeface="Calibri"/>
                        </a:rPr>
                        <a:t>AE CBF 튜닝 공정성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2262B"/>
                          </a:solidFill>
                          <a:latin typeface="Calibri"/>
                        </a:rPr>
                        <a:t>(γ,δ) 30설정 스윕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2262B"/>
                          </a:solidFill>
                          <a:latin typeface="Calibri"/>
                        </a:rPr>
                        <a:t>cbf_sensitivity.png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2262B"/>
                          </a:solidFill>
                          <a:latin typeface="Calibri"/>
                        </a:rPr>
                        <a:t>통계 부재 (공통)</a:t>
                      </a:r>
                    </a:p>
                  </a:txBody>
                  <a:tcPr marL="64008" marR="45720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2262B"/>
                          </a:solidFill>
                          <a:latin typeface="Calibri"/>
                        </a:rPr>
                        <a:t>Wilson CI, McNemar+Holm, Fisher, per-seed, rule-of-3</a:t>
                      </a:r>
                    </a:p>
                  </a:txBody>
                  <a:tcPr marL="64008" marR="45720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22262B"/>
                          </a:solidFill>
                          <a:latin typeface="Calibri"/>
                        </a:rPr>
                        <a:t>Table detection/mcnemar</a:t>
                      </a:r>
                    </a:p>
                  </a:txBody>
                  <a:tcPr marL="64008" marR="45720" marT="18288" marB="18288" anchor="ctr">
                    <a:solidFill>
                      <a:srgbClr val="EEF2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160520"/>
            <a:ext cx="11201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02A54"/>
                </a:solidFill>
                <a:latin typeface="Calibri"/>
              </a:rPr>
              <a:t>핵심 통계 (S1+S3+S4+S5, seeds=20):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62B"/>
                </a:solidFill>
                <a:latin typeface="Calibri"/>
              </a:rPr>
              <a:t>•  PETSE recall 100% [98.1,100], VR 0/300 (rule-of-3 ≤1.0%), FN=0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62B"/>
                </a:solidFill>
                <a:latin typeface="Calibri"/>
              </a:rPr>
              <a:t>•  모든 baseline 대비 McNemar p&lt;0.001 (Holm), baseline 편향 discordant 쌍 0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62B"/>
                </a:solidFill>
                <a:latin typeface="Calibri"/>
              </a:rPr>
              <a:t>•  margin-probe 재프레임: near/mid_boundary 거절=설계된 보수성 → FP=0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37376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45A66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2471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9FC0F0"/>
                </a:solidFill>
                <a:latin typeface="Calibri"/>
              </a:rPr>
              <a:t>수치 일관성</a:t>
            </a:r>
          </a:p>
          <a:p>
            <a:pPr algn="l">
              <a:spcAft>
                <a:spcPts val="600"/>
              </a:spcAft>
            </a:pPr>
            <a:r>
              <a:rPr sz="2500" b="1">
                <a:solidFill>
                  <a:srgbClr val="FFFFFF"/>
                </a:solidFill>
                <a:latin typeface="Calibri"/>
              </a:rPr>
              <a:t>논문 수치 전면 갱신 (구 → 신)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280160"/>
          <a:ext cx="11201399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4479"/>
                <a:gridCol w="3646967"/>
                <a:gridCol w="5209953"/>
              </a:tblGrid>
              <a:tr h="525780">
                <a:tc>
                  <a:txBody>
                    <a:bodyPr wrap="square"/>
                    <a:lstStyle/>
                    <a:p>
                      <a:pPr algn="l"/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항목</a:t>
                      </a:r>
                    </a:p>
                  </a:txBody>
                  <a:tcPr marL="64008" marR="45720" marT="18288" marB="18288" anchor="ctr">
                    <a:solidFill>
                      <a:srgbClr val="102A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종전 (구)</a:t>
                      </a:r>
                    </a:p>
                  </a:txBody>
                  <a:tcPr marL="64008" marR="45720" marT="18288" marB="18288" anchor="ctr">
                    <a:solidFill>
                      <a:srgbClr val="102A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재투고본 (신)</a:t>
                      </a:r>
                    </a:p>
                  </a:txBody>
                  <a:tcPr marL="64008" marR="45720" marT="18288" marB="18288" anchor="ctr">
                    <a:solidFill>
                      <a:srgbClr val="102A54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pPr algn="l"/>
                      <a:r>
                        <a:rPr sz="1350">
                          <a:solidFill>
                            <a:srgbClr val="22262B"/>
                          </a:solidFill>
                          <a:latin typeface="Calibri"/>
                        </a:rPr>
                        <a:t>시험 규모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>
                          <a:solidFill>
                            <a:srgbClr val="22262B"/>
                          </a:solidFill>
                          <a:latin typeface="Calibri"/>
                        </a:rPr>
                        <a:t>1,920 trials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>
                          <a:solidFill>
                            <a:srgbClr val="22262B"/>
                          </a:solidFill>
                          <a:latin typeface="Calibri"/>
                        </a:rPr>
                        <a:t>seeds=20, baseline 300/method, 총 2,584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pPr algn="l"/>
                      <a:r>
                        <a:rPr sz="1350">
                          <a:solidFill>
                            <a:srgbClr val="22262B"/>
                          </a:solidFill>
                          <a:latin typeface="Calibri"/>
                        </a:rPr>
                        <a:t>PETSE F1</a:t>
                      </a:r>
                    </a:p>
                  </a:txBody>
                  <a:tcPr marL="64008" marR="45720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>
                          <a:solidFill>
                            <a:srgbClr val="22262B"/>
                          </a:solidFill>
                          <a:latin typeface="Calibri"/>
                        </a:rPr>
                        <a:t>0.917</a:t>
                      </a:r>
                    </a:p>
                  </a:txBody>
                  <a:tcPr marL="64008" marR="45720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>
                          <a:solidFill>
                            <a:srgbClr val="22262B"/>
                          </a:solidFill>
                          <a:latin typeface="Calibri"/>
                        </a:rPr>
                        <a:t>1.000 [1.000,1.000] (margin-probe 재프레임)</a:t>
                      </a:r>
                    </a:p>
                  </a:txBody>
                  <a:tcPr marL="64008" marR="45720" marT="18288" marB="18288" anchor="ctr">
                    <a:solidFill>
                      <a:srgbClr val="EEF2F8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pPr algn="l"/>
                      <a:r>
                        <a:rPr sz="1350">
                          <a:solidFill>
                            <a:srgbClr val="22262B"/>
                          </a:solidFill>
                          <a:latin typeface="Calibri"/>
                        </a:rPr>
                        <a:t>PETSE FP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>
                          <a:solidFill>
                            <a:srgbClr val="22262B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>
                          <a:solidFill>
                            <a:srgbClr val="22262B"/>
                          </a:solidFill>
                          <a:latin typeface="Calibri"/>
                        </a:rPr>
                        <a:t>0 (near/mid_boundary 별도 보고)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pPr algn="l"/>
                      <a:r>
                        <a:rPr sz="1350">
                          <a:solidFill>
                            <a:srgbClr val="22262B"/>
                          </a:solidFill>
                          <a:latin typeface="Calibri"/>
                        </a:rPr>
                        <a:t>최강 baseline</a:t>
                      </a:r>
                    </a:p>
                  </a:txBody>
                  <a:tcPr marL="64008" marR="45720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>
                          <a:solidFill>
                            <a:srgbClr val="22262B"/>
                          </a:solidFill>
                          <a:latin typeface="Calibri"/>
                        </a:rPr>
                        <a:t>CBF-Adaptive F1 0.548</a:t>
                      </a:r>
                    </a:p>
                  </a:txBody>
                  <a:tcPr marL="64008" marR="45720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>
                          <a:solidFill>
                            <a:srgbClr val="22262B"/>
                          </a:solidFill>
                          <a:latin typeface="Calibri"/>
                        </a:rPr>
                        <a:t>CBF-Adaptive F1 0.592, recall 0.420</a:t>
                      </a:r>
                    </a:p>
                  </a:txBody>
                  <a:tcPr marL="64008" marR="45720" marT="18288" marB="18288" anchor="ctr">
                    <a:solidFill>
                      <a:srgbClr val="EEF2F8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pPr algn="l"/>
                      <a:r>
                        <a:rPr sz="1350">
                          <a:solidFill>
                            <a:srgbClr val="22262B"/>
                          </a:solidFill>
                          <a:latin typeface="Calibri"/>
                        </a:rPr>
                        <a:t>baseline 수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>
                          <a:solidFill>
                            <a:srgbClr val="22262B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>
                          <a:solidFill>
                            <a:srgbClr val="22262B"/>
                          </a:solidFill>
                          <a:latin typeface="Calibri"/>
                        </a:rPr>
                        <a:t>6 (RoboGuard 추가)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pPr algn="l"/>
                      <a:r>
                        <a:rPr sz="1350">
                          <a:solidFill>
                            <a:srgbClr val="22262B"/>
                          </a:solidFill>
                          <a:latin typeface="Calibri"/>
                        </a:rPr>
                        <a:t>유의성</a:t>
                      </a:r>
                    </a:p>
                  </a:txBody>
                  <a:tcPr marL="64008" marR="45720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>
                          <a:solidFill>
                            <a:srgbClr val="22262B"/>
                          </a:solidFill>
                          <a:latin typeface="Calibri"/>
                        </a:rPr>
                        <a:t>없음</a:t>
                      </a:r>
                    </a:p>
                  </a:txBody>
                  <a:tcPr marL="64008" marR="45720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>
                          <a:solidFill>
                            <a:srgbClr val="22262B"/>
                          </a:solidFill>
                          <a:latin typeface="Calibri"/>
                        </a:rPr>
                        <a:t>McNemar/Holm p&lt;0.001, CI, per-seed</a:t>
                      </a:r>
                    </a:p>
                  </a:txBody>
                  <a:tcPr marL="64008" marR="45720" marT="18288" marB="18288" anchor="ctr">
                    <a:solidFill>
                      <a:srgbClr val="EEF2F8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pPr algn="l"/>
                      <a:r>
                        <a:rPr sz="1350">
                          <a:solidFill>
                            <a:srgbClr val="22262B"/>
                          </a:solidFill>
                          <a:latin typeface="Calibri"/>
                        </a:rPr>
                        <a:t>새 그림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>
                          <a:solidFill>
                            <a:srgbClr val="22262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>
                          <a:solidFill>
                            <a:srgbClr val="22262B"/>
                          </a:solidFill>
                          <a:latin typeface="Calibri"/>
                        </a:rPr>
                        <a:t>2×2·컨트롤러·운영점 + RSS/CBF/ε/기하/스푸핑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5669280"/>
            <a:ext cx="11201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E7D32"/>
                </a:solidFill>
                <a:latin typeface="Calibri"/>
              </a:rPr>
              <a:t>→ 초록·기여문·본문·표가 모두 새 수치로 일치 (구 수치 잔존 0 확인).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37376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45A66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2471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9FC0F0"/>
                </a:solidFill>
                <a:latin typeface="Calibri"/>
              </a:rPr>
              <a:t>로드맵</a:t>
            </a:r>
          </a:p>
          <a:p>
            <a:pPr algn="l">
              <a:spcAft>
                <a:spcPts val="600"/>
              </a:spcAft>
            </a:pPr>
            <a:r>
              <a:rPr sz="2500" b="1">
                <a:solidFill>
                  <a:srgbClr val="FFFFFF"/>
                </a:solidFill>
                <a:latin typeface="Calibri"/>
              </a:rPr>
              <a:t>진행 현황 · 남은 작업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80160"/>
            <a:ext cx="5486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E7D32"/>
                </a:solidFill>
                <a:latin typeface="Calibri"/>
              </a:rPr>
              <a:t>✅ 완료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22262B"/>
                </a:solidFill>
                <a:latin typeface="Calibri"/>
              </a:rPr>
              <a:t>•  핵심 인과 실험 3종 (2×2·컨트롤러·운영점)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22262B"/>
                </a:solidFill>
                <a:latin typeface="Calibri"/>
              </a:rPr>
              <a:t>•  분석·시뮬 실험 (CBF·RSS·ε·기하·스푸핑·복구)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22262B"/>
                </a:solidFill>
                <a:latin typeface="Calibri"/>
              </a:rPr>
              <a:t>•  통계 (CI·McNemar·Holm·per-seed)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22262B"/>
                </a:solidFill>
                <a:latin typeface="Calibri"/>
              </a:rPr>
              <a:t>•  논문: 제목·초록·기여문·수치 표 전면 갱신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22262B"/>
                </a:solidFill>
                <a:latin typeface="Calibri"/>
              </a:rPr>
              <a:t>•  신규 결과 소절 + 그림 3장 삽입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63640" y="1280160"/>
            <a:ext cx="5486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C62828"/>
                </a:solidFill>
                <a:latin typeface="Calibri"/>
              </a:rPr>
              <a:t>⏳ 남음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22262B"/>
                </a:solidFill>
                <a:latin typeface="Calibri"/>
              </a:rPr>
              <a:t>•  본문: COE 정의 + TCB 표 (Method/Threat)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22262B"/>
                </a:solidFill>
                <a:latin typeface="Calibri"/>
              </a:rPr>
              <a:t>•  Limitations 재작성 (자기모순 제거, fail-stop→recovery)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22262B"/>
                </a:solidFill>
                <a:latin typeface="Calibri"/>
              </a:rPr>
              <a:t>•  Related Work: 실행계 문헌 서베이+bib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22262B"/>
                </a:solidFill>
                <a:latin typeface="Calibri"/>
              </a:rPr>
              <a:t>•  S1 하드웨어 실기체 실험 (선택)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22262B"/>
                </a:solidFill>
                <a:latin typeface="Calibri"/>
              </a:rPr>
              <a:t>•  GitHub 저장소 공개·README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22262B"/>
                </a:solidFill>
                <a:latin typeface="Calibri"/>
              </a:rPr>
              <a:t>•  Overleaf 컴파일 확인 (로컬 LaTeX 없음)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37376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45A66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